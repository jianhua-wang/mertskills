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1695" cy="6858000"/>
  <p:notesSz cx="6858000" cy="9144000"/>
  <p:defaultTextStyle>
    <a:defPPr>
      <a:defRPr lang="en-US"/>
    </a:defPPr>
    <a:lvl1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1691640"/>
            <a:ext cx="10545775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Event · date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ctrTitle" hasCustomPrompt="1"/>
          </p:nvPr>
        </p:nvSpPr>
        <p:spPr>
          <a:xfrm>
            <a:off x="822960" y="2057400"/>
            <a:ext cx="10545775" cy="1188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Talk title</a:t>
            </a:r>
          </a:p>
        </p:txBody>
      </p:sp>
      <p:sp>
        <p:nvSpPr>
          <p:cNvPr id="4" name="Subtitle 3 (subtitle)"/>
          <p:cNvSpPr>
            <a:spLocks noGrp="1"/>
          </p:cNvSpPr>
          <p:nvPr>
            <p:ph type="subTitle" idx="1" hasCustomPrompt="1"/>
          </p:nvPr>
        </p:nvSpPr>
        <p:spPr>
          <a:xfrm>
            <a:off x="822960" y="3429000"/>
            <a:ext cx="10545775" cy="6858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5" name="Text 4 (authors)"/>
          <p:cNvSpPr>
            <a:spLocks noGrp="1"/>
          </p:cNvSpPr>
          <p:nvPr>
            <p:ph type="body" idx="14" hasCustomPrompt="1"/>
          </p:nvPr>
        </p:nvSpPr>
        <p:spPr>
          <a:xfrm>
            <a:off x="822960" y="4526280"/>
            <a:ext cx="10545775" cy="548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Presenter, co-authors</a:t>
            </a:r>
          </a:p>
        </p:txBody>
      </p:sp>
      <p:sp>
        <p:nvSpPr>
          <p:cNvPr id="6" name="Text 5 (affiliation)"/>
          <p:cNvSpPr>
            <a:spLocks noGrp="1"/>
          </p:cNvSpPr>
          <p:nvPr>
            <p:ph type="body" idx="15" hasCustomPrompt="1"/>
          </p:nvPr>
        </p:nvSpPr>
        <p:spPr>
          <a:xfrm>
            <a:off x="822960" y="5120640"/>
            <a:ext cx="10545775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Affiliation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1371600"/>
            <a:ext cx="6583680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Journal club · date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title" hasCustomPrompt="1"/>
          </p:nvPr>
        </p:nvSpPr>
        <p:spPr>
          <a:xfrm>
            <a:off x="822960" y="1783080"/>
            <a:ext cx="6583680" cy="1691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Paper title</a:t>
            </a:r>
          </a:p>
        </p:txBody>
      </p:sp>
      <p:sp>
        <p:nvSpPr>
          <p:cNvPr id="4" name="Text 3 (authors)"/>
          <p:cNvSpPr>
            <a:spLocks noGrp="1"/>
          </p:cNvSpPr>
          <p:nvPr>
            <p:ph type="body" idx="14" hasCustomPrompt="1"/>
          </p:nvPr>
        </p:nvSpPr>
        <p:spPr>
          <a:xfrm>
            <a:off x="822960" y="3611880"/>
            <a:ext cx="6583680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First author, …, last author</a:t>
            </a:r>
          </a:p>
        </p:txBody>
      </p:sp>
      <p:sp>
        <p:nvSpPr>
          <p:cNvPr id="5" name="Text 4 (citation)"/>
          <p:cNvSpPr>
            <a:spLocks noGrp="1"/>
          </p:cNvSpPr>
          <p:nvPr>
            <p:ph type="body" idx="15" hasCustomPrompt="1"/>
          </p:nvPr>
        </p:nvSpPr>
        <p:spPr>
          <a:xfrm>
            <a:off x="822960" y="4434840"/>
            <a:ext cx="6583680" cy="5029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Journal · year · DOI</a:t>
            </a:r>
          </a:p>
        </p:txBody>
      </p:sp>
      <p:sp>
        <p:nvSpPr>
          <p:cNvPr id="6" name="Text 5 (presenter)"/>
          <p:cNvSpPr>
            <a:spLocks noGrp="1"/>
          </p:cNvSpPr>
          <p:nvPr>
            <p:ph type="body" idx="16" hasCustomPrompt="1"/>
          </p:nvPr>
        </p:nvSpPr>
        <p:spPr>
          <a:xfrm>
            <a:off x="822960" y="5257800"/>
            <a:ext cx="6583680" cy="3200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Presented by …</a:t>
            </a:r>
          </a:p>
        </p:txBody>
      </p:sp>
      <p:sp>
        <p:nvSpPr>
          <p:cNvPr id="7" name="Picture 6 (image)"/>
          <p:cNvSpPr>
            <a:spLocks noGrp="1"/>
          </p:cNvSpPr>
          <p:nvPr>
            <p:ph type="pic" idx="17" hasCustomPrompt="1"/>
          </p:nvPr>
        </p:nvSpPr>
        <p:spPr>
          <a:xfrm>
            <a:off x="7772400" y="822960"/>
            <a:ext cx="3870655" cy="52120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4.23 × 5.70 in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number)"/>
          <p:cNvSpPr>
            <a:spLocks noGrp="1"/>
          </p:cNvSpPr>
          <p:nvPr>
            <p:ph type="body" idx="13" hasCustomPrompt="1"/>
          </p:nvPr>
        </p:nvSpPr>
        <p:spPr>
          <a:xfrm>
            <a:off x="822960" y="2103120"/>
            <a:ext cx="10545775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itle 2 (title)"/>
          <p:cNvSpPr>
            <a:spLocks noGrp="1"/>
          </p:cNvSpPr>
          <p:nvPr>
            <p:ph type="title" hasCustomPrompt="1"/>
          </p:nvPr>
        </p:nvSpPr>
        <p:spPr>
          <a:xfrm>
            <a:off x="822960" y="2880360"/>
            <a:ext cx="10545775" cy="1188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3 (subtitle)"/>
          <p:cNvSpPr>
            <a:spLocks noGrp="1"/>
          </p:cNvSpPr>
          <p:nvPr>
            <p:ph type="body" idx="14" hasCustomPrompt="1"/>
          </p:nvPr>
        </p:nvSpPr>
        <p:spPr>
          <a:xfrm>
            <a:off x="822960" y="4206240"/>
            <a:ext cx="10545775" cy="6400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One line on what this part shows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 (kicker)"/>
          <p:cNvSpPr>
            <a:spLocks noGrp="1"/>
          </p:cNvSpPr>
          <p:nvPr>
            <p:ph type="body" idx="13" hasCustomPrompt="1"/>
          </p:nvPr>
        </p:nvSpPr>
        <p:spPr>
          <a:xfrm>
            <a:off x="822960" y="2148840"/>
            <a:ext cx="10545775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kern="1200" cap="all" spc="1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Key question</a:t>
            </a:r>
          </a:p>
        </p:txBody>
      </p:sp>
      <p:sp>
        <p:nvSpPr>
          <p:cNvPr id="3" name="Title 2 (text)"/>
          <p:cNvSpPr>
            <a:spLocks noGrp="1"/>
          </p:cNvSpPr>
          <p:nvPr>
            <p:ph type="title" hasCustomPrompt="1"/>
          </p:nvPr>
        </p:nvSpPr>
        <p:spPr>
          <a:xfrm>
            <a:off x="822960" y="2651760"/>
            <a:ext cx="10545775" cy="23774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One sentence the audience must remember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822960" y="5989320"/>
            <a:ext cx="981425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Picture 2 (image)"/>
          <p:cNvSpPr>
            <a:spLocks noGrp="1"/>
          </p:cNvSpPr>
          <p:nvPr>
            <p:ph type="pic" idx="13" hasCustomPrompt="1"/>
          </p:nvPr>
        </p:nvSpPr>
        <p:spPr>
          <a:xfrm>
            <a:off x="548640" y="1600200"/>
            <a:ext cx="11094415" cy="434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12.13 × 4.75 in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6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Fig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Picture 2 (image)"/>
          <p:cNvSpPr>
            <a:spLocks noGrp="1"/>
          </p:cNvSpPr>
          <p:nvPr>
            <p:ph type="pic" idx="13" hasCustomPrompt="1"/>
          </p:nvPr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7.60 × 4.75 in</a:t>
            </a:r>
          </a:p>
        </p:txBody>
      </p:sp>
      <p:sp>
        <p:nvSpPr>
          <p:cNvPr id="4" name="Text 3 (text)"/>
          <p:cNvSpPr>
            <a:spLocks noGrp="1"/>
          </p:cNvSpPr>
          <p:nvPr>
            <p:ph type="body" idx="14" hasCustomPrompt="1"/>
          </p:nvPr>
        </p:nvSpPr>
        <p:spPr>
          <a:xfrm>
            <a:off x="7863840" y="1600200"/>
            <a:ext cx="3779215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Two to four short points</a:t>
            </a:r>
          </a:p>
        </p:txBody>
      </p:sp>
      <p:sp>
        <p:nvSpPr>
          <p:cNvPr id="5" name="Text 4 (source)"/>
          <p:cNvSpPr>
            <a:spLocks noGrp="1"/>
          </p:cNvSpPr>
          <p:nvPr>
            <p:ph type="body" idx="15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6" name="Slide Number 5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7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left_label)"/>
          <p:cNvSpPr>
            <a:spLocks noGrp="1"/>
          </p:cNvSpPr>
          <p:nvPr>
            <p:ph type="body" idx="15" hasCustomPrompt="1"/>
          </p:nvPr>
        </p:nvSpPr>
        <p:spPr>
          <a:xfrm>
            <a:off x="548640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panel label</a:t>
            </a:r>
          </a:p>
        </p:txBody>
      </p:sp>
      <p:sp>
        <p:nvSpPr>
          <p:cNvPr id="4" name="Picture 3 (left_image)"/>
          <p:cNvSpPr>
            <a:spLocks noGrp="1"/>
          </p:cNvSpPr>
          <p:nvPr>
            <p:ph type="pic" idx="13" hasCustomPrompt="1"/>
          </p:nvPr>
        </p:nvSpPr>
        <p:spPr>
          <a:xfrm>
            <a:off x="548640" y="2057400"/>
            <a:ext cx="5364328" cy="388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5.87 × 4.25 in</a:t>
            </a:r>
          </a:p>
        </p:txBody>
      </p:sp>
      <p:sp>
        <p:nvSpPr>
          <p:cNvPr id="5" name="Text 4 (right_label)"/>
          <p:cNvSpPr>
            <a:spLocks noGrp="1"/>
          </p:cNvSpPr>
          <p:nvPr>
            <p:ph type="body" idx="16" hasCustomPrompt="1"/>
          </p:nvPr>
        </p:nvSpPr>
        <p:spPr>
          <a:xfrm>
            <a:off x="6278728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panel label</a:t>
            </a:r>
          </a:p>
        </p:txBody>
      </p:sp>
      <p:sp>
        <p:nvSpPr>
          <p:cNvPr id="6" name="Picture 5 (right_image)"/>
          <p:cNvSpPr>
            <a:spLocks noGrp="1"/>
          </p:cNvSpPr>
          <p:nvPr>
            <p:ph type="pic" idx="14" hasCustomPrompt="1"/>
          </p:nvPr>
        </p:nvSpPr>
        <p:spPr>
          <a:xfrm>
            <a:off x="6278728" y="2057400"/>
            <a:ext cx="5364328" cy="388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Figure · export at 5.87 × 4.25 in</a:t>
            </a:r>
          </a:p>
        </p:txBody>
      </p:sp>
      <p:sp>
        <p:nvSpPr>
          <p:cNvPr id="7" name="Text 6 (source)"/>
          <p:cNvSpPr>
            <a:spLocks noGrp="1"/>
          </p:cNvSpPr>
          <p:nvPr>
            <p:ph type="body" idx="17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8" name="Slide Number 7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9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text)"/>
          <p:cNvSpPr>
            <a:spLocks noGrp="1"/>
          </p:cNvSpPr>
          <p:nvPr>
            <p:ph type="body" idx="1" hasCustomPrompt="1"/>
          </p:nvPr>
        </p:nvSpPr>
        <p:spPr>
          <a:xfrm>
            <a:off x="548640" y="1600200"/>
            <a:ext cx="8229600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Three to five short points</a:t>
            </a:r>
          </a:p>
        </p:txBody>
      </p:sp>
      <p:sp>
        <p:nvSpPr>
          <p:cNvPr id="4" name="Text 3 (source)"/>
          <p:cNvSpPr>
            <a:spLocks noGrp="1"/>
          </p:cNvSpPr>
          <p:nvPr>
            <p:ph type="body" idx="14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5" name="Slide Number 4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6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left_heading)"/>
          <p:cNvSpPr>
            <a:spLocks noGrp="1"/>
          </p:cNvSpPr>
          <p:nvPr>
            <p:ph type="body" idx="13" hasCustomPrompt="1"/>
          </p:nvPr>
        </p:nvSpPr>
        <p:spPr>
          <a:xfrm>
            <a:off x="548640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heading</a:t>
            </a:r>
          </a:p>
        </p:txBody>
      </p:sp>
      <p:sp>
        <p:nvSpPr>
          <p:cNvPr id="4" name="Text 3 (left_text)"/>
          <p:cNvSpPr>
            <a:spLocks noGrp="1"/>
          </p:cNvSpPr>
          <p:nvPr>
            <p:ph type="body" idx="14" hasCustomPrompt="1"/>
          </p:nvPr>
        </p:nvSpPr>
        <p:spPr>
          <a:xfrm>
            <a:off x="548640" y="2103120"/>
            <a:ext cx="5364328" cy="3840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Points</a:t>
            </a:r>
          </a:p>
        </p:txBody>
      </p:sp>
      <p:sp>
        <p:nvSpPr>
          <p:cNvPr id="5" name="Text 4 (right_heading)"/>
          <p:cNvSpPr>
            <a:spLocks noGrp="1"/>
          </p:cNvSpPr>
          <p:nvPr>
            <p:ph type="body" idx="15" hasCustomPrompt="1"/>
          </p:nvPr>
        </p:nvSpPr>
        <p:spPr>
          <a:xfrm>
            <a:off x="6278728" y="1600200"/>
            <a:ext cx="5364328" cy="411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heading</a:t>
            </a:r>
          </a:p>
        </p:txBody>
      </p:sp>
      <p:sp>
        <p:nvSpPr>
          <p:cNvPr id="6" name="Text 5 (right_text)"/>
          <p:cNvSpPr>
            <a:spLocks noGrp="1"/>
          </p:cNvSpPr>
          <p:nvPr>
            <p:ph type="body" idx="16" hasCustomPrompt="1"/>
          </p:nvPr>
        </p:nvSpPr>
        <p:spPr>
          <a:xfrm>
            <a:off x="6278728" y="2103120"/>
            <a:ext cx="5364328" cy="38404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Points</a:t>
            </a:r>
          </a:p>
        </p:txBody>
      </p:sp>
      <p:sp>
        <p:nvSpPr>
          <p:cNvPr id="7" name="Text 6 (source)"/>
          <p:cNvSpPr>
            <a:spLocks noGrp="1"/>
          </p:cNvSpPr>
          <p:nvPr>
            <p:ph type="body" idx="17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8" name="Slide Number 7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9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source)"/>
          <p:cNvSpPr>
            <a:spLocks noGrp="1"/>
          </p:cNvSpPr>
          <p:nvPr>
            <p:ph type="body" idx="13" hasCustomPrompt="1"/>
          </p:nvPr>
        </p:nvSpPr>
        <p:spPr>
          <a:xfrm>
            <a:off x="548640" y="5989320"/>
            <a:ext cx="10088575" cy="4572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Source or note: citation, n, test, error bars</a:t>
            </a:r>
          </a:p>
        </p:txBody>
      </p:sp>
      <p:sp>
        <p:nvSpPr>
          <p:cNvPr id="4" name="Slide Number 3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5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Headline: one full sentence that states the finding</a:t>
            </a:r>
          </a:p>
        </p:txBody>
      </p:sp>
      <p:sp>
        <p:nvSpPr>
          <p:cNvPr id="3" name="Text 2 (points)"/>
          <p:cNvSpPr>
            <a:spLocks noGrp="1"/>
          </p:cNvSpPr>
          <p:nvPr>
            <p:ph type="body" idx="13" hasCustomPrompt="1"/>
          </p:nvPr>
        </p:nvSpPr>
        <p:spPr>
          <a:xfrm>
            <a:off x="548640" y="1600200"/>
            <a:ext cx="9144000" cy="333756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457200" indent="-45720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+mj-lt"/>
              <a:buAutoNum type="arabicPlain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Two to four take-home messages</a:t>
            </a:r>
          </a:p>
        </p:txBody>
      </p:sp>
      <p:sp>
        <p:nvSpPr>
          <p:cNvPr id="4" name="Text 3 (acknowledgements)"/>
          <p:cNvSpPr>
            <a:spLocks noGrp="1"/>
          </p:cNvSpPr>
          <p:nvPr>
            <p:ph type="body" idx="14" hasCustomPrompt="1"/>
          </p:nvPr>
        </p:nvSpPr>
        <p:spPr>
          <a:xfrm>
            <a:off x="548640" y="5029200"/>
            <a:ext cx="10088575" cy="6858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400" b="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Acknowledgements</a:t>
            </a:r>
          </a:p>
        </p:txBody>
      </p:sp>
      <p:sp>
        <p:nvSpPr>
          <p:cNvPr id="5" name="Text 4 (contact)"/>
          <p:cNvSpPr>
            <a:spLocks noGrp="1"/>
          </p:cNvSpPr>
          <p:nvPr>
            <p:ph type="body" idx="15" hasCustomPrompt="1"/>
          </p:nvPr>
        </p:nvSpPr>
        <p:spPr>
          <a:xfrm>
            <a:off x="548640" y="6080760"/>
            <a:ext cx="10088575" cy="36576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Email · code · preprint</a:t>
            </a:r>
          </a:p>
        </p:txBody>
      </p:sp>
      <p:sp>
        <p:nvSpPr>
          <p:cNvPr id="6" name="Slide Number 5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7" name="Headline rule"/>
          <p:cNvSpPr>
            <a:spLocks noGrp="1" noSelect="1" noMove="1" noResize="1"/>
          </p:cNvSpPr>
          <p:nvPr userDrawn="1"/>
        </p:nvSpPr>
        <p:spPr>
          <a:xfrm>
            <a:off x="548640" y="1412558"/>
            <a:ext cx="11094415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Headline mark"/>
          <p:cNvSpPr>
            <a:spLocks noGrp="1" noSelect="1" noMove="1" noResize="1"/>
          </p:cNvSpPr>
          <p:nvPr userDrawn="1"/>
        </p:nvSpPr>
        <p:spPr>
          <a:xfrm>
            <a:off x="548640" y="139192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(headline)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Text 2 (text)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343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56032" indent="-256032" algn="l" defTabSz="4572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064" indent="-256032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–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8096" indent="-256032" algn="l" defTabSz="4572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D4D4D"/>
              </a:buClr>
              <a:buSzPct val="100000"/>
              <a:buFont typeface="Arial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r>
              <a:rPr lang="en-US"/>
              <a:t>Text</a:t>
            </a:r>
          </a:p>
        </p:txBody>
      </p:sp>
      <p:sp>
        <p:nvSpPr>
          <p:cNvPr id="4" name="Slide Number 3 (slide_number)"/>
          <p:cNvSpPr>
            <a:spLocks noGrp="1"/>
          </p:cNvSpPr>
          <p:nvPr>
            <p:ph type="sldNum" sz="quarter" idx="12"/>
          </p:nvPr>
        </p:nvSpPr>
        <p:spPr>
          <a:xfrm>
            <a:off x="10911535" y="6172200"/>
            <a:ext cx="731520" cy="2743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kern="120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&lt;#&gt;</a:t>
            </a:fld>
            <a:endParaRPr lang="en-US"/>
          </a:p>
        </p:txBody>
      </p:sp>
      <p:sp>
        <p:nvSpPr>
          <p:cNvPr id="5" name="Bottom bar"/>
          <p:cNvSpPr>
            <a:spLocks noGrp="1" noSelect="1" noMove="1" noResize="1"/>
          </p:cNvSpPr>
          <p:nvPr userDrawn="1"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indent="0" algn="l" defTabSz="457200" rtl="0" eaLnBrk="1" latinLnBrk="0" hangingPunct="1">
        <a:lnSpc>
          <a:spcPct val="95000"/>
        </a:lnSpc>
        <a:spcBef>
          <a:spcPts val="0"/>
        </a:spcBef>
        <a:spcAft>
          <a:spcPts val="0"/>
        </a:spcAft>
        <a:buNone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256032" indent="-256032" algn="l" defTabSz="457200" rtl="0" eaLnBrk="1" latinLnBrk="0" hangingPunct="1">
        <a:lnSpc>
          <a:spcPct val="100000"/>
        </a:lnSpc>
        <a:spcBef>
          <a:spcPts val="14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12064" indent="-256032" algn="l" defTabSz="4572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D4D4D"/>
        </a:buClr>
        <a:buSzPct val="100000"/>
        <a:buFont typeface="Arial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536192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24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048256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2304288" indent="-256032" algn="l" defTabSz="4572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Clr>
          <a:srgbClr val="4D4D4D"/>
        </a:buClr>
        <a:buSzPct val="100000"/>
        <a:buFont typeface="Arial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1609344"/>
            <a:ext cx="10545775" cy="244601"/>
          </a:xfrm>
        </p:spPr>
        <p:txBody>
          <a:bodyPr/>
          <a:lstStyle/>
          <a:p>
            <a:r>
              <a:rPr lang="en-US"/>
              <a:t>Example Conference 2026 · Session 4B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22960" y="1981962"/>
            <a:ext cx="10545775" cy="1165860"/>
          </a:xfrm>
        </p:spPr>
        <p:txBody>
          <a:bodyPr/>
          <a:lstStyle/>
          <a:p>
            <a:r>
              <a:rPr lang="en-US"/>
              <a:t>Curriculum sampling halves the compute needed to reach baseline accuracy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22960" y="3348990"/>
            <a:ext cx="10545775" cy="363473"/>
          </a:xfrm>
        </p:spPr>
        <p:txBody>
          <a:bodyPr/>
          <a:lstStyle/>
          <a:p>
            <a:r>
              <a:rPr lang="en-US"/>
              <a:t>A loss-driven schedule for noisy, long-tailed training sets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>
          <a:xfrm>
            <a:off x="822960" y="4169664"/>
            <a:ext cx="10545775" cy="304037"/>
          </a:xfrm>
        </p:spPr>
        <p:txBody>
          <a:bodyPr/>
          <a:lstStyle/>
          <a:p>
            <a:r>
              <a:rPr b="1" lang="en-US"/>
              <a:t>Presenter Name</a:t>
            </a:r>
            <a:r>
              <a:rPr lang="en-US"/>
              <a:t>, Co-author One, Co-author Two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>
          <a:xfrm>
            <a:off x="822960" y="4546854"/>
            <a:ext cx="10545775" cy="244601"/>
          </a:xfrm>
        </p:spPr>
        <p:txBody>
          <a:bodyPr/>
          <a:lstStyle/>
          <a:p>
            <a:r>
              <a:rPr lang="en-US"/>
              <a:t>Department of Example Studies · Example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2241423"/>
            <a:ext cx="10545775" cy="244601"/>
          </a:xfrm>
        </p:spPr>
        <p:txBody>
          <a:bodyPr/>
          <a:lstStyle/>
          <a:p>
            <a:r>
              <a:rPr lang="en-US"/>
              <a:t>The question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" y="2714625"/>
            <a:ext cx="10545775" cy="987552"/>
          </a:xfrm>
        </p:spPr>
        <p:txBody>
          <a:bodyPr/>
          <a:lstStyle/>
          <a:p>
            <a:r>
              <a:rPr lang="en-US"/>
              <a:t>Can we stop spending compute on examples the model has </a:t>
            </a:r>
            <a:r>
              <a:rPr b="1" lang="en-US">
                <a:solidFill>
                  <a:schemeClr val="accent1"/>
                </a:solidFill>
              </a:rPr>
              <a:t>already learned</a:t>
            </a:r>
            <a:r>
              <a:rPr lang="en-US"/>
              <a:t>?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2193417"/>
            <a:ext cx="10545775" cy="749808"/>
          </a:xfr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" y="2998089"/>
            <a:ext cx="10545775" cy="601218"/>
          </a:xfrm>
        </p:spPr>
        <p:txBody>
          <a:bodyPr/>
          <a:lstStyle/>
          <a:p>
            <a:r>
              <a:rPr lang="en-US"/>
              <a:t>Uniform sampling wastes most of its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>
          <a:xfrm>
            <a:off x="822960" y="3873627"/>
            <a:ext cx="10545775" cy="333755"/>
          </a:xfrm>
        </p:spPr>
        <p:txBody>
          <a:bodyPr/>
          <a:lstStyle/>
          <a:p>
            <a:r>
              <a:rPr lang="en-US"/>
              <a:t>Where the compute goes in a standard training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epoch 10, nine in ten training steps revisit examples the model already gets right</a:t>
            </a:r>
          </a:p>
        </p:txBody>
      </p:sp>
      <p:pic>
        <p:nvPicPr>
          <p:cNvPr id="3" name="Picture Placeholder 2" descr="wasted_steps.pn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548640" y="1600200"/>
            <a:ext cx="6949440" cy="4343400"/>
          </a:xfrm>
        </p:spPr>
      </p:pic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/>
              <a:t>Grey = steps on learned examples</a:t>
            </a:r>
          </a:p>
          <a:p>
            <a:r>
              <a:rPr lang="en-US"/>
              <a:t>The share grows every epoch</a:t>
            </a:r>
          </a:p>
          <a:p>
            <a:pPr lvl="1"/>
            <a:r>
              <a:rPr lang="en-US"/>
              <a:t>Hard examples get rarer</a:t>
            </a:r>
          </a:p>
          <a:p>
            <a:r>
              <a:rPr lang="en-US"/>
              <a:t>These steps add </a:t>
            </a:r>
            <a:r>
              <a:rPr b="1" lang="en-US">
                <a:solidFill>
                  <a:schemeClr val="accent1"/>
                </a:solidFill>
              </a:rPr>
              <a:t>almost no gradient signal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Synthetic data for illustration. Learned = correct on 3 consecutive visits.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2193417"/>
            <a:ext cx="10545775" cy="749808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" y="2998089"/>
            <a:ext cx="10545775" cy="601218"/>
          </a:xfrm>
        </p:spPr>
        <p:txBody>
          <a:bodyPr/>
          <a:lstStyle/>
          <a:p>
            <a:r>
              <a:rPr lang="en-US"/>
              <a:t>Curriculum sampling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>
          <a:xfrm>
            <a:off x="822960" y="3873627"/>
            <a:ext cx="10545775" cy="333755"/>
          </a:xfrm>
        </p:spPr>
        <p:txBody>
          <a:bodyPr/>
          <a:lstStyle/>
          <a:p>
            <a:r>
              <a:rPr lang="en-US"/>
              <a:t>Reweight each example by its recent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Curriculum sampling reweights examples by recent loss, not by a fixed schedule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Uniform (baseline)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/>
              <a:t>Every example drawn with equal probability</a:t>
            </a:r>
          </a:p>
          <a:p>
            <a:r>
              <a:rPr lang="en-US"/>
              <a:t>Cost grows with dataset size</a:t>
            </a:r>
          </a:p>
          <a:p>
            <a:r>
              <a:rPr lang="en-US"/>
              <a:t>No notion of difficulty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Curriculum (ours)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/>
              <a:t>Weight ∝ exponential moving average of loss</a:t>
            </a:r>
          </a:p>
          <a:p>
            <a:r>
              <a:rPr lang="en-US"/>
              <a:t>Floor weight keeps easy examples in play</a:t>
            </a:r>
          </a:p>
          <a:p>
            <a:r>
              <a:rPr lang="en-US"/>
              <a:t>One extra hyperparameter, τ = 0.9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Curriculum sampling reaches the baseline's final accuracy with 2× less compute</a:t>
            </a:r>
          </a:p>
        </p:txBody>
      </p:sp>
      <p:pic>
        <p:nvPicPr>
          <p:cNvPr id="3" name="Picture Placeholder 2" descr="curves_stage1.pn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550011" y="1600200"/>
            <a:ext cx="11091672" cy="4343400"/>
          </a:xfrm>
        </p:spPr>
      </p:pic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/>
              <a:t>Mean of 5 seeds; shaded bands omitted for clarity (s.d. &lt; 0.01).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Curriculum sampling reaches the baseline's final accuracy with 2× less compute</a:t>
            </a:r>
          </a:p>
        </p:txBody>
      </p:sp>
      <p:pic>
        <p:nvPicPr>
          <p:cNvPr id="3" name="Picture Placeholder 2" descr="curves_stage2.pn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550011" y="1600200"/>
            <a:ext cx="11091672" cy="4343400"/>
          </a:xfrm>
        </p:spPr>
      </p:pic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/>
              <a:t>Mean of 5 seeds; shaded bands omitted for clarity (s.d. &lt; 0.01).</a:t>
            </a:r>
          </a:p>
        </p:txBody>
      </p:sp>
      <p:sp>
        <p:nvSpPr>
          <p:cNvPr id="5" name="Highlight"/>
          <p:cNvSpPr/>
          <p:nvPr/>
        </p:nvSpPr>
        <p:spPr>
          <a:xfrm>
            <a:off x="4853580" y="2138781"/>
            <a:ext cx="1275542" cy="51686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ighlight label"/>
          <p:cNvSpPr txBox="1"/>
          <p:nvPr/>
        </p:nvSpPr>
        <p:spPr>
          <a:xfrm>
            <a:off x="4853580" y="180959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b="1" lang="en-US" sz="1400">
                <a:solidFill>
                  <a:schemeClr val="accent1"/>
                </a:solidFill>
              </a:rPr>
              <a:t>47 vs 100 GPU-hours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gain is large under label noise and small on clean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Clean labels</a:t>
            </a:r>
          </a:p>
        </p:txBody>
      </p:sp>
      <p:pic>
        <p:nvPicPr>
          <p:cNvPr id="4" name="Picture Placeholder 3" descr="bars_clean.pn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551611" y="2057400"/>
            <a:ext cx="5358384" cy="3886200"/>
          </a:xfrm>
        </p:spPr>
      </p:pic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/>
              <a:t>20% label noise</a:t>
            </a:r>
          </a:p>
        </p:txBody>
      </p:sp>
      <p:pic>
        <p:nvPicPr>
          <p:cNvPr id="6" name="Picture Placeholder 5" descr="bars_noisy.png"/>
          <p:cNvPicPr>
            <a:picLocks noGrp="1" noChangeAspect="1"/>
          </p:cNvPicPr>
          <p:nvPr>
            <p:ph type="pic" idx="14"/>
          </p:nvPr>
        </p:nvPicPr>
        <p:blipFill>
          <a:blip r:embed="rId3"/>
          <a:srcRect/>
          <a:stretch>
            <a:fillRect/>
          </a:stretch>
        </p:blipFill>
        <p:spPr>
          <a:xfrm>
            <a:off x="6281699" y="2057400"/>
            <a:ext cx="5358384" cy="3886200"/>
          </a:xfrm>
        </p:spPr>
      </p:pic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/>
              <a:t>Five benchmark datasets (A–E). Accuracy after 50 GPU-hours.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Gains hold across all five datasets at equal compute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Accuracy at 50 GPU-hours, mean of 5 seeds. Δ = Curriculum − Uniform.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706727" y="1600200"/>
          <a:ext cx="8778240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76320"/>
                <a:gridCol w="1625600"/>
                <a:gridCol w="1950720"/>
                <a:gridCol w="1625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Dataset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1A1A1A"/>
                      </a:solidFill>
                      <a:prstDash val="solid"/>
                    </a:lnT>
                    <a:lnB w="9525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Uniform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1A1A1A"/>
                      </a:solidFill>
                      <a:prstDash val="solid"/>
                    </a:lnT>
                    <a:lnB w="9525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Curriculum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1A1A1A"/>
                      </a:solidFill>
                      <a:prstDash val="solid"/>
                    </a:lnT>
                    <a:lnB w="9525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Δ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>
                      <a:solidFill>
                        <a:srgbClr val="1A1A1A"/>
                      </a:solidFill>
                      <a:prstDash val="solid"/>
                    </a:lnT>
                    <a:lnB w="9525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A · images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0.812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0.861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+0.049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B · text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0.771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0.818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+0.047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C · audio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0.843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0.872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+0.029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D · tabular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0.724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0.781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+0.057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E · graphs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0.790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0.836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+0.046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Mean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A1A1A"/>
                      </a:solidFill>
                      <a:prstDash val="solid"/>
                    </a:lnB>
                    <a:solidFill>
                      <a:srgbClr val="E6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0.788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A1A1A"/>
                      </a:solidFill>
                      <a:prstDash val="solid"/>
                    </a:lnB>
                    <a:solidFill>
                      <a:srgbClr val="E6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0.834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A1A1A"/>
                      </a:solidFill>
                      <a:prstDash val="solid"/>
                    </a:lnB>
                    <a:solidFill>
                      <a:srgbClr val="E6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1A1A1A"/>
                          </a:solidFill>
                        </a:rPr>
                        <a:t>+0.046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>
                      <a:solidFill>
                        <a:srgbClr val="1A1A1A"/>
                      </a:solidFill>
                      <a:prstDash val="solid"/>
                    </a:lnB>
                    <a:solidFill>
                      <a:srgbClr val="E6EAF6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caveats limit how far this result generalises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Tested only up to 1B parameters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caveats limit how far this result generalises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Tested only up to 1B parameters</a:t>
            </a:r>
          </a:p>
          <a:p>
            <a:r>
              <a:rPr lang="en-US"/>
              <a:t>Needs per-example loss, which costs memory</a:t>
            </a:r>
          </a:p>
          <a:p>
            <a:pPr lvl="1"/>
            <a:r>
              <a:rPr lang="en-US"/>
              <a:t>About 4 bytes per example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caveats limit how far this result generalises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Tested only up to 1B parameters</a:t>
            </a:r>
          </a:p>
          <a:p>
            <a:r>
              <a:rPr lang="en-US"/>
              <a:t>Needs per-example loss, which costs memory</a:t>
            </a:r>
          </a:p>
          <a:p>
            <a:pPr lvl="1"/>
            <a:r>
              <a:rPr lang="en-US"/>
              <a:t>About 4 bytes per example</a:t>
            </a:r>
          </a:p>
          <a:p>
            <a:r>
              <a:rPr lang="en-US"/>
              <a:t>Gains shrink when labels are clean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Take-home messages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Uniform sampling spends most of its steps on learned examples</a:t>
            </a:r>
          </a:p>
          <a:p>
            <a:r>
              <a:rPr lang="en-US"/>
              <a:t>Loss-based curriculum sampling reaches baseline accuracy with </a:t>
            </a:r>
            <a:r>
              <a:rPr b="1" lang="en-US">
                <a:solidFill>
                  <a:schemeClr val="accent1"/>
                </a:solidFill>
              </a:rPr>
              <a:t>2× less compute</a:t>
            </a:r>
          </a:p>
          <a:p>
            <a:r>
              <a:rPr lang="en-US"/>
              <a:t>The gain is largest under label noise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/>
              <a:t>Thanks to the Example Lab and the Example Compute Cluster. Funded by grant EX-0000.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presenter@example.edu · github.com/example/curriculum · arXiv:0000.00000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&lt;#&gt;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2497455"/>
            <a:ext cx="10545775" cy="749808"/>
          </a:xfrm>
        </p:spPr>
        <p:txBody>
          <a:bodyPr/>
          <a:lstStyle/>
          <a:p>
            <a:r>
              <a:rPr lang="en-US"/>
              <a:t>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" y="3302127"/>
            <a:ext cx="10545775" cy="601218"/>
          </a:xfrm>
        </p:spPr>
        <p:txBody>
          <a:bodyPr/>
          <a:lstStyle/>
          <a:p>
            <a:r>
              <a:rPr lang="en-US"/>
              <a:t>Backup slides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822960" y="1755076"/>
            <a:ext cx="6583680" cy="244601"/>
          </a:xfrm>
        </p:spPr>
        <p:txBody>
          <a:bodyPr/>
          <a:lstStyle/>
          <a:p>
            <a:r>
              <a:rPr lang="en-US"/>
              <a:t>Background paper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" y="2127694"/>
            <a:ext cx="6583680" cy="883539"/>
          </a:xfrm>
        </p:spPr>
        <p:txBody>
          <a:bodyPr/>
          <a:lstStyle/>
          <a:p>
            <a:r>
              <a:rPr lang="en-US"/>
              <a:t>Prioritised sampling by loss: a short history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>
          <a:xfrm>
            <a:off x="822960" y="3285553"/>
            <a:ext cx="6583680" cy="274320"/>
          </a:xfrm>
        </p:spPr>
        <p:txBody>
          <a:bodyPr/>
          <a:lstStyle/>
          <a:p>
            <a:r>
              <a:rPr lang="en-US"/>
              <a:t>First Author, Second Author, Last Author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822960" y="3669601"/>
            <a:ext cx="6583680" cy="274320"/>
          </a:xfrm>
        </p:spPr>
        <p:txBody>
          <a:bodyPr/>
          <a:lstStyle/>
          <a:p>
            <a:r>
              <a:rPr lang="en-US"/>
              <a:t>Example Journal · 2025 · doi:10.0000/example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>
          <a:xfrm>
            <a:off x="822960" y="4401121"/>
            <a:ext cx="6583680" cy="244601"/>
          </a:xfrm>
        </p:spPr>
        <p:txBody>
          <a:bodyPr/>
          <a:lstStyle/>
          <a:p>
            <a:r>
              <a:rPr lang="en-US"/>
              <a:t>Discussed in journal club, March 2026</a:t>
            </a:r>
          </a:p>
        </p:txBody>
      </p:sp>
      <p:pic>
        <p:nvPicPr>
          <p:cNvPr id="7" name="Picture Placeholder 6" descr="paper_teaser.png"/>
          <p:cNvPicPr>
            <a:picLocks noGrp="1" noChangeAspect="1"/>
          </p:cNvPicPr>
          <p:nvPr>
            <p:ph type="pic" idx="17"/>
          </p:nvPr>
        </p:nvPicPr>
        <p:blipFill>
          <a:blip r:embed="rId2"/>
          <a:srcRect/>
          <a:stretch>
            <a:fillRect/>
          </a:stretch>
        </p:blipFill>
        <p:spPr>
          <a:xfrm>
            <a:off x="7773771" y="822960"/>
            <a:ext cx="3867912" cy="521208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-studio academic">
  <a:themeElements>
    <a:clrScheme name="slide-studio academic">
      <a:dk1>
        <a:srgbClr val="1A1A1A"/>
      </a:dk1>
      <a:lt1>
        <a:srgbClr val="FFFFFF"/>
      </a:lt1>
      <a:dk2>
        <a:srgbClr val="4D4D4D"/>
      </a:dk2>
      <a:lt2>
        <a:srgbClr val="F2F2F2"/>
      </a:lt2>
      <a:accent1>
        <a:srgbClr val="002FA7"/>
      </a:accent1>
      <a:accent2>
        <a:srgbClr val="D55E00"/>
      </a:accent2>
      <a:accent3>
        <a:srgbClr val="009E73"/>
      </a:accent3>
      <a:accent4>
        <a:srgbClr val="E69F00"/>
      </a:accent4>
      <a:accent5>
        <a:srgbClr val="56B4E9"/>
      </a:accent5>
      <a:accent6>
        <a:srgbClr val="CC79A7"/>
      </a:accent6>
      <a:hlink>
        <a:srgbClr val="002FA7"/>
      </a:hlink>
      <a:folHlink>
        <a:srgbClr val="6B4C9A"/>
      </a:folHlink>
    </a:clrScheme>
    <a:fontScheme name="slide-studio academic">
      <a:majorFont>
        <a:latin typeface="Arial"/>
        <a:ea typeface="DengXian"/>
        <a:cs typeface=""/>
        <a:font script="Hans" typeface="DengXian"/>
        <a:font script="Hant" typeface="DengXian"/>
      </a:majorFont>
      <a:minorFont>
        <a:latin typeface="Arial"/>
        <a:ea typeface="DengXian"/>
        <a:cs typeface=""/>
        <a:font script="Hans" typeface="DengXian"/>
        <a:font script="Hant" typeface="DengXian"/>
      </a:minorFont>
    </a:fontScheme>
    <a:fmtScheme name="Fl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noFill/>
        <a:ln w="19050">
          <a:solidFill>
            <a:schemeClr val="accent1"/>
          </a:solidFill>
        </a:ln>
      </a:spPr>
      <a:bodyPr rtlCol="0" anchor="ctr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sampling halves the compute to reach baseline accuracy</dc:title>
  <dc:creator>Presenter Name</dc:creator>
  <cp:lastModifiedBy>slide-studio</cp:lastModifiedBy>
  <cp:revision>1</cp:revision>
  <dcterms:created xsi:type="dcterms:W3CDTF">2026-01-01T00:00:00Z</dcterms:created>
  <dcterms:modified xsi:type="dcterms:W3CDTF">2026-01-01T00:00:00Z</dcterms:modified>
</cp:coreProperties>
</file>